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AGROSUL  ×  AGROSTECH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1554480"/>
            <a:ext cx="2651760" cy="2651760"/>
          </a:xfrm>
          <a:prstGeom prst="ellipse">
            <a:avLst/>
          </a:prstGeom>
          <a:solidFill>
            <a:srgbClr val="16653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4" name="Image 0" descr="/tmp/claude-0/-home-user/1768c9ae-59f3-554c-971e-4bcd208ed832/scratchpad/deck/icons/cert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698" y="2243938"/>
            <a:ext cx="1272845" cy="12728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3172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land compliance and crop health for Brazil's small farms — generated entirely from open data and autonomous agents.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product concept, merging Agrostech's data engine, Agrosul's Swarm platform, and the open-data land-market thesis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Brazil's agriculture is built on small farms.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92328" y="196596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1048" y="2286000"/>
            <a:ext cx="914400" cy="914400"/>
          </a:xfrm>
          <a:prstGeom prst="ellipse">
            <a:avLst/>
          </a:prstGeom>
          <a:solidFill>
            <a:srgbClr val="14532D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6" name="Image 0" descr="/tmp/claude-0/-home-user/1768c9ae-59f3-554c-971e-4bcd208ed832/scratchpad/deck/icons/users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2328" y="3364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20928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family-farm properties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49928" y="196596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14532D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11" name="Image 1" descr="/tmp/claude-0/-home-user/1768c9ae-59f3-554c-971e-4bcd208ed832/scratchpad/deck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9928" y="3364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678528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rural establishments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528" y="196596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96248" y="2286000"/>
            <a:ext cx="914400" cy="914400"/>
          </a:xfrm>
          <a:prstGeom prst="ellipse">
            <a:avLst/>
          </a:prstGeom>
          <a:solidFill>
            <a:srgbClr val="14532D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16" name="Image 2" descr="/tmp/claude-0/-home-user/1768c9ae-59f3-554c-971e-4bcd208ed832/scratchpad/deck/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848" y="25146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07528" y="3364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336128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farmland they work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farms are everywhere in Brazilian agriculture — and almost invisible to credit, compliance, and precision ag.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Embrapa · Censo Agropecuário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deadlines just made proof mandatory.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23748" y="196596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9508" y="2286000"/>
            <a:ext cx="777240" cy="77724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6" name="Image 0" descr="/tmp/claude-0/-home-user/1768c9ae-59f3-554c-971e-4bcd208ed832/scratchpad/deck/icons/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387" y="24608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95348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January 2026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89508" y="32461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without an analyzed CAR — or with an active embargo — lose access to subsidized Plano Safra credit lines, at any size.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47308" y="196596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3068" y="2286000"/>
            <a:ext cx="777240" cy="77724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11" name="Image 1" descr="/tmp/claude-0/-home-user/1768c9ae-59f3-554c-971e-4bcd208ed832/scratchpad/deck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947" y="24608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8908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2026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713068" y="32461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Deforestation Regulation requires plot-level, deforestation-free proof for every export lot that reaches the EU market.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just became mandatory — and smallholders have no affordable way to produce it.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OLD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checks. Cold outreach. Imagery priced for someone else's farm.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85800" cy="68580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5" name="Image 0" descr="/tmp/claude-0/-home-user/1768c9ae-59f3-554c-971e-4bcd208ed832/scratchpad/deck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23031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open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4688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SIGEF, SICAR, and MapBiomas each publish on separate portals with schemas that shift without notice.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47288"/>
            <a:ext cx="685800" cy="68580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9" name="Image 1" descr="/tmp/claude-0/-home-user/1768c9ae-59f3-554c-971e-4bcd208ed832/scratchpad/deck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" y="3601593"/>
            <a:ext cx="377190" cy="3771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37673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lawyers, and banks still check land and environmental status by hand, one property at a time.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745736"/>
            <a:ext cx="685800" cy="68580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3" name="Image 2" descr="/tmp/claude-0/-home-user/1768c9ae-59f3-554c-971e-4bcd208ed832/scratchpad/deck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" y="4900041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700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built for someone else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506577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tasking is priced and packaged for thousand-hectare operations, not a 20-hectare family plot.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452360" y="214884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452360" y="2788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$40–60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781812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km², typical VHR tasking price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818120" y="42062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50 km² order minimum — before a single hectare is certified.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agents, not another workflow tool.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02336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7764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28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28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28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B3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node-to-node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F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task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B3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silently on schema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F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Self-heals across data 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B3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between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F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memory across every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B3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and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F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across sub-tasks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B3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personalization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F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30–50% of execution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start from zero. We started from production.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/tmp/claude-0/-home-user/1768c9ae-59f3-554c-971e-4bcd208ed832/scratchpad/deck/icons/satD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Geomart — Agrostech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scrapes SIGEF-certified parcels and MapBiomas alerts — today, to find enterprise sales leads.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prices NDVI/NDRE flyovers at R$22–60 per hectare for mid-to-large producers.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4028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1" name="Image 1" descr="/tmp/claude-0/-home-user/1768c9ae-59f3-554c-971e-4bcd208ed832/scratchpad/deck/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— Agrosul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31546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 already watches Sentinel-2 NDVI and flags any farm with a health drop over 15%.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Mercurius already gates every drone mission by ROI before it flies.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 repoints this same engine at the 3.9 million farms it was never built to reach.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685800"/>
            <a:ext cx="2011680" cy="2011680"/>
          </a:xfrm>
          <a:prstGeom prst="ellipse">
            <a:avLst/>
          </a:prstGeom>
          <a:solidFill>
            <a:srgbClr val="16653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3" name="Image 0" descr="/tmp/claude-0/-home-user/1768c9ae-59f3-554c-971e-4bcd208ed832/scratchpad/deck/icons/cert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1887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Certificado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645920" y="379476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compliance and health certificate — generated entirely from free, public data — for any farm, regardless of size.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a Certificado.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46020"/>
            <a:ext cx="822960" cy="82296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/tmp/claude-0/-home-user/1768c9ae-59f3-554c-971e-4bcd208ed832/scratchpad/deck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651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status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62432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regularized in SICAR, boundary certified in SIGEF, zero active embargoes.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46020"/>
            <a:ext cx="822960" cy="82296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1" name="Image 1" descr="/tmp/claude-0/-home-user/1768c9ae-59f3-554c-971e-4bcd208ed832/scratchpad/deck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trace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89520" y="262432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 Alerta cross-check — no validated alert on record for the property.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94860"/>
            <a:ext cx="822960" cy="82296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6" name="Image 2" descr="/tmp/claude-0/-home-user/1768c9ae-59f3-554c-971e-4bcd208ed832/scratchpad/deck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800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89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Crop-health trend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7316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Season-over-season NDVI from Sentinel-2, plotted in plain language.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594860"/>
            <a:ext cx="822960" cy="82296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1" name="Image 3" descr="/tmp/claude-0/-home-user/1768c9ae-59f3-554c-971e-4bcd208ed832/scratchpad/deck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48006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389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document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89520" y="477316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QR-coded PDF any bank, buyer, or auditor can check in seconds.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agents. One certificate. Zero manual work.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6688" y="2468880"/>
            <a:ext cx="914400" cy="9144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6" name="Image 0" descr="/tmp/claude-0/-home-user/1768c9ae-59f3-554c-971e-4bcd208ed832/scratchpad/deck/icons/satD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74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9468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5188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SIGEF, SICAR, MapBiomas &amp; Sentinel-2 for the farm's exact polygon.</a:t>
            </a:r>
            <a:endParaRPr lang="en-US" sz="1200" dirty="0"/>
          </a:p>
        </p:txBody>
      </p:sp>
      <p:pic>
        <p:nvPicPr>
          <p:cNvPr id="10" name="Image 1" descr="/tmp/claude-0/-home-user/1768c9ae-59f3-554c-971e-4bcd208ed832/scratchpad/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92" y="37490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1228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21328" y="2468880"/>
            <a:ext cx="914400" cy="9144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13" name="Image 2" descr="/tmp/claude-0/-home-user/1768c9ae-59f3-554c-971e-4bcd208ed832/scratchpad/deck/icons/fileCont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8" y="2697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5838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04108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Agent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49828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findings into a plain-language, PT-BR certificate.</a:t>
            </a:r>
            <a:endParaRPr lang="en-US" sz="1200" dirty="0"/>
          </a:p>
        </p:txBody>
      </p:sp>
      <p:pic>
        <p:nvPicPr>
          <p:cNvPr id="17" name="Image 3" descr="/tmp/claude-0/-home-user/1768c9ae-59f3-554c-971e-4bcd208ed832/scratchpad/deck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74904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55968" y="2468880"/>
            <a:ext cx="914400" cy="9144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20" name="Image 4" descr="/tmp/claude-0/-home-user/1768c9ae-59f3-554c-971e-4bcd208ed832/scratchpad/deck/icons/whatsap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68" y="26974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9302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438748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Agent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84468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renews it over WhatsApp — no app, no login.</a:t>
            </a:r>
            <a:endParaRPr lang="en-US" sz="1200" dirty="0"/>
          </a:p>
        </p:txBody>
      </p:sp>
      <p:pic>
        <p:nvPicPr>
          <p:cNvPr id="24" name="Image 5" descr="/tmp/claude-0/-home-user/1768c9ae-59f3-554c-971e-4bcd208ed832/scratchpad/deck/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2472" y="3749040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90508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890608" y="2468880"/>
            <a:ext cx="914400" cy="9144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27" name="Image 6" descr="/tmp/claude-0/-home-user/1768c9ae-59f3-554c-971e-4bcd208ed832/scratchpad/deck/icons/ey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208" y="2697480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2766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9273388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319108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change; a new alert or NDVI drop triggers a re-issue.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THE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data isn't the compromise. It's the unlock.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— 10 m resolution, every 5 days, free forever from ESA Copernicus.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173A24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148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$2,000+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tasking order for very-high-res imagery (50 km² @ $40–60/km²)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3977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250×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4617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an average 20-hectare family farm — just to meet the order minimum.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THE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resolution to the decision it informs.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7432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2834640"/>
                <a:gridCol w="2926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cadence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(Copernicus)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 · every 5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 — compliance &amp; health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 · 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/ hectares managed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 monitoring — active-season scouting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Pléiades / Maxar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cm · tasked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$5–25/km² archive · $40–60/km² tasked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&amp; ESG MRV — audit-grade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F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never needs the expensive tier — the decisions it supports (credit, deforestation-free proof, health baseline) are exactly the ones 10 m free data answers well.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THE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certificate. Three ways to grow with a farmer.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201168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4532D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2468" y="233172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tmp/claude-0/-home-user/1768c9ae-59f3-554c-971e-4bcd208ed832/scratchpad/deck/icon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638" y="25488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5188" y="3822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low-cost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06628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Open-data compliance &amp; health certificate. Top-of-funnel, self-serve, WhatsApp-delivered.</a:t>
            </a:r>
            <a:endParaRPr lang="en-US" sz="1200" dirty="0"/>
          </a:p>
        </p:txBody>
      </p:sp>
      <p:pic>
        <p:nvPicPr>
          <p:cNvPr id="10" name="Image 1" descr="/tmp/claude-0/-home-user/1768c9ae-59f3-554c-971e-4bcd208ed832/scratchpad/deck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312" y="37490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1348" y="201168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1508" y="2331720"/>
            <a:ext cx="868680" cy="86868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3" name="Image 2" descr="/tmp/claude-0/-home-user/1768c9ae-59f3-554c-971e-4bcd208ed832/scratchpad/deck/icons/dr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254889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4228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Monitoring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64228" y="3822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R$1.20–60 / ha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655668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Agrosul's drone &amp; satellite reports — NDVI, DEM, stand count — for active-season decisions.</a:t>
            </a:r>
            <a:endParaRPr lang="en-US" sz="1200" dirty="0"/>
          </a:p>
        </p:txBody>
      </p:sp>
      <p:pic>
        <p:nvPicPr>
          <p:cNvPr id="17" name="Image 3" descr="/tmp/claude-0/-home-user/1768c9ae-59f3-554c-971e-4bcd208ed832/scratchpad/deck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52" y="374904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30388" y="201168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410548" y="2331720"/>
            <a:ext cx="868680" cy="86868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0" name="Image 4" descr="/tmp/claude-0/-home-user/1768c9ae-59f3-554c-971e-4bcd208ed832/scratchpad/deck/icons/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718" y="2548890"/>
            <a:ext cx="434340" cy="4343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13268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&amp; ESG MRV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313268" y="3822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R$8,000–20,000 / laudo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404708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Agrostech's audit-grade reports for Verra / Gold Standard carbon certifiers.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Monitor Agent flag — an NDVI anomaly, a fresh alert — becomes the qualified signal that moves a farmer up the ladder.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822960"/>
            <a:ext cx="1828800" cy="182880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pic>
        <p:nvPicPr>
          <p:cNvPr id="3" name="Image 0" descr="/tmp/claude-0/-home-user/1768c9ae-59f3-554c-971e-4bcd208ed832/scratchpad/deck/icons/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2344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farmers where they already are.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37360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dashboard. No download. Certificado is issued, renewed, and explained over WhatsApp — the channel Agrostech's bots already speak.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built on what already runs.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21031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234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52348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348" y="38404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Geomart and Solis into a single Certificado generator for one municipality.</a:t>
            </a:r>
            <a:endParaRPr lang="en-US" sz="1300" dirty="0"/>
          </a:p>
        </p:txBody>
      </p:sp>
      <p:pic>
        <p:nvPicPr>
          <p:cNvPr id="8" name="Image 0" descr="/tmp/claude-0/-home-user/1768c9ae-59f3-554c-971e-4bcd208ed832/scratchpad/deck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3312" y="365760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1348" y="21031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138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701388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1388" y="38404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WhatsApp bot with freshness, completeness, and dedup gates before any certificate ships.</a:t>
            </a:r>
            <a:endParaRPr lang="en-US" sz="1300" dirty="0"/>
          </a:p>
        </p:txBody>
      </p:sp>
      <p:pic>
        <p:nvPicPr>
          <p:cNvPr id="13" name="Image 1" descr="/tmp/claude-0/-home-user/1768c9ae-59f3-554c-971e-4bcd208ed832/scratchpad/deck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352" y="365760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30388" y="210312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D281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5042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8450428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450428" y="38404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Monitor Agent flags into a live upsell path toward Swarm monitoring and Carbon MRV.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— Strategic Product Concept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80.8M hectares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645920" y="29260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farmed by families across Brazil — most of it still outside precision ag, formal credit, and carbon markets.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 is how that land enters the data economy — one open, verifiable, free certificate at a time.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85455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Agrosul  ×  Agrostech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2026-07-30T16:52:47Z</dcterms:created>
  <dcterms:modified xsi:type="dcterms:W3CDTF">2026-07-30T16:52:47Z</dcterms:modified>
</cp:coreProperties>
</file>